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 Bold" charset="1" panose="02000503000000020004"/>
      <p:regular r:id="rId20"/>
    </p:embeddedFont>
    <p:embeddedFont>
      <p:font typeface="Inter" charset="1" panose="02000503000000020004"/>
      <p:regular r:id="rId21"/>
    </p:embeddedFont>
    <p:embeddedFont>
      <p:font typeface="Poppins Bold" charset="1" panose="00000800000000000000"/>
      <p:regular r:id="rId28"/>
    </p:embeddedFont>
    <p:embeddedFont>
      <p:font typeface="Poppins" charset="1" panose="000005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1549" y="4996610"/>
            <a:ext cx="16915352" cy="2660835"/>
            <a:chOff x="0" y="0"/>
            <a:chExt cx="21314282" cy="33528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1314282" cy="3352800"/>
            </a:xfrm>
            <a:custGeom>
              <a:avLst/>
              <a:gdLst/>
              <a:ahLst/>
              <a:cxnLst/>
              <a:rect r="r" b="b" t="t" l="l"/>
              <a:pathLst>
                <a:path h="3352800" w="21314282">
                  <a:moveTo>
                    <a:pt x="0" y="0"/>
                  </a:moveTo>
                  <a:lnTo>
                    <a:pt x="21314282" y="0"/>
                  </a:lnTo>
                  <a:lnTo>
                    <a:pt x="21314282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" t="0" r="-50" b="-568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705839" y="23232"/>
            <a:ext cx="9582161" cy="10121933"/>
          </a:xfrm>
          <a:custGeom>
            <a:avLst/>
            <a:gdLst/>
            <a:ahLst/>
            <a:cxnLst/>
            <a:rect r="r" b="b" t="t" l="l"/>
            <a:pathLst>
              <a:path h="10121933" w="9582161">
                <a:moveTo>
                  <a:pt x="0" y="0"/>
                </a:moveTo>
                <a:lnTo>
                  <a:pt x="9582161" y="0"/>
                </a:lnTo>
                <a:lnTo>
                  <a:pt x="9582161" y="10121933"/>
                </a:lnTo>
                <a:lnTo>
                  <a:pt x="0" y="101219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3386" t="-17808" r="-60653" b="-303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8815563" cy="10145165"/>
            <a:chOff x="0" y="0"/>
            <a:chExt cx="2194192" cy="25251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192" cy="2525130"/>
            </a:xfrm>
            <a:custGeom>
              <a:avLst/>
              <a:gdLst/>
              <a:ahLst/>
              <a:cxnLst/>
              <a:rect r="r" b="b" t="t" l="l"/>
              <a:pathLst>
                <a:path h="2525130" w="2194192">
                  <a:moveTo>
                    <a:pt x="0" y="0"/>
                  </a:moveTo>
                  <a:lnTo>
                    <a:pt x="2194192" y="0"/>
                  </a:lnTo>
                  <a:lnTo>
                    <a:pt x="2194192" y="2525130"/>
                  </a:lnTo>
                  <a:lnTo>
                    <a:pt x="0" y="2525130"/>
                  </a:lnTo>
                  <a:close/>
                </a:path>
              </a:pathLst>
            </a:custGeom>
            <a:solidFill>
              <a:srgbClr val="FFFFFF">
                <a:alpha val="8078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33350"/>
              <a:ext cx="2194192" cy="2658480"/>
            </a:xfrm>
            <a:prstGeom prst="rect">
              <a:avLst/>
            </a:prstGeom>
          </p:spPr>
          <p:txBody>
            <a:bodyPr anchor="ctr" rtlCol="false" tIns="53754" lIns="53754" bIns="53754" rIns="53754"/>
            <a:lstStyle/>
            <a:p>
              <a:pPr algn="ctr">
                <a:lnSpc>
                  <a:spcPts val="404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25964" y="9114268"/>
            <a:ext cx="1472875" cy="773125"/>
            <a:chOff x="0" y="0"/>
            <a:chExt cx="2405596" cy="1262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5634" cy="1262719"/>
            </a:xfrm>
            <a:custGeom>
              <a:avLst/>
              <a:gdLst/>
              <a:ahLst/>
              <a:cxnLst/>
              <a:rect r="r" b="b" t="t" l="l"/>
              <a:pathLst>
                <a:path h="1262719" w="2405634">
                  <a:moveTo>
                    <a:pt x="0" y="0"/>
                  </a:moveTo>
                  <a:lnTo>
                    <a:pt x="2405634" y="0"/>
                  </a:lnTo>
                  <a:lnTo>
                    <a:pt x="2405634" y="1262719"/>
                  </a:lnTo>
                  <a:lnTo>
                    <a:pt x="0" y="12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-325" r="0" b="-325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25964" y="923620"/>
            <a:ext cx="8179875" cy="203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4"/>
              </a:lnSpc>
            </a:pPr>
            <a:r>
              <a:rPr lang="en-US" b="true" sz="6147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AI-Powered PDF</a:t>
            </a:r>
          </a:p>
          <a:p>
            <a:pPr algn="l">
              <a:lnSpc>
                <a:spcPts val="8114"/>
              </a:lnSpc>
            </a:pPr>
            <a:r>
              <a:rPr lang="en-US" b="true" sz="6147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Compliance Checker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5964" y="5253940"/>
            <a:ext cx="7498660" cy="49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5"/>
              </a:lnSpc>
            </a:pPr>
            <a:r>
              <a:rPr lang="en-US" b="true" sz="238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Team Members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5964" y="5793167"/>
            <a:ext cx="7860209" cy="2051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9"/>
              </a:lnSpc>
            </a:pPr>
            <a:r>
              <a:rPr lang="en-US" sz="232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Rekha Kumre </a:t>
            </a:r>
          </a:p>
          <a:p>
            <a:pPr algn="l">
              <a:lnSpc>
                <a:spcPts val="4179"/>
              </a:lnSpc>
            </a:pPr>
            <a:r>
              <a:rPr lang="en-US" sz="232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Avranil Set </a:t>
            </a:r>
          </a:p>
          <a:p>
            <a:pPr algn="l">
              <a:lnSpc>
                <a:spcPts val="4179"/>
              </a:lnSpc>
            </a:pPr>
            <a:r>
              <a:rPr lang="en-US" sz="232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Md Wasim </a:t>
            </a:r>
          </a:p>
          <a:p>
            <a:pPr algn="l">
              <a:lnSpc>
                <a:spcPts val="4179"/>
              </a:lnSpc>
            </a:pPr>
            <a:r>
              <a:rPr lang="en-US" sz="232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Bhupesh Bora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3916039"/>
            <a:ext cx="5103578" cy="62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0"/>
              </a:lnSpc>
              <a:spcBef>
                <a:spcPct val="0"/>
              </a:spcBef>
            </a:pPr>
            <a:r>
              <a:rPr lang="en-US" b="true" sz="2977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Presented by Team 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" y="2385517"/>
            <a:ext cx="3300412" cy="165021"/>
            <a:chOff x="0" y="0"/>
            <a:chExt cx="152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35681" y="7640941"/>
            <a:ext cx="1501700" cy="352425"/>
            <a:chOff x="0" y="0"/>
            <a:chExt cx="2002267" cy="4699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002267" cy="469900"/>
            </a:xfrm>
            <a:custGeom>
              <a:avLst/>
              <a:gdLst/>
              <a:ahLst/>
              <a:cxnLst/>
              <a:rect r="r" b="b" t="t" l="l"/>
              <a:pathLst>
                <a:path h="469900" w="2002267">
                  <a:moveTo>
                    <a:pt x="0" y="0"/>
                  </a:moveTo>
                  <a:lnTo>
                    <a:pt x="2002267" y="0"/>
                  </a:lnTo>
                  <a:lnTo>
                    <a:pt x="2002267" y="469900"/>
                  </a:lnTo>
                  <a:lnTo>
                    <a:pt x="0" y="46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748" r="0" b="-292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29907" y="7640941"/>
            <a:ext cx="2753117" cy="352425"/>
            <a:chOff x="0" y="0"/>
            <a:chExt cx="3670823" cy="4699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3670823" cy="469900"/>
            </a:xfrm>
            <a:custGeom>
              <a:avLst/>
              <a:gdLst/>
              <a:ahLst/>
              <a:cxnLst/>
              <a:rect r="r" b="b" t="t" l="l"/>
              <a:pathLst>
                <a:path h="469900" w="3670823">
                  <a:moveTo>
                    <a:pt x="0" y="0"/>
                  </a:moveTo>
                  <a:lnTo>
                    <a:pt x="3670823" y="0"/>
                  </a:lnTo>
                  <a:lnTo>
                    <a:pt x="3670823" y="469900"/>
                  </a:lnTo>
                  <a:lnTo>
                    <a:pt x="0" y="46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3748" r="0" b="-2921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675549" y="7640941"/>
            <a:ext cx="2560591" cy="352425"/>
            <a:chOff x="0" y="0"/>
            <a:chExt cx="3414122" cy="4699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3414122" cy="469900"/>
            </a:xfrm>
            <a:custGeom>
              <a:avLst/>
              <a:gdLst/>
              <a:ahLst/>
              <a:cxnLst/>
              <a:rect r="r" b="b" t="t" l="l"/>
              <a:pathLst>
                <a:path h="469900" w="3414122">
                  <a:moveTo>
                    <a:pt x="0" y="0"/>
                  </a:moveTo>
                  <a:lnTo>
                    <a:pt x="3414122" y="0"/>
                  </a:lnTo>
                  <a:lnTo>
                    <a:pt x="3414122" y="469900"/>
                  </a:lnTo>
                  <a:lnTo>
                    <a:pt x="0" y="46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3748" r="0" b="-2921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28666" y="7640941"/>
            <a:ext cx="2676107" cy="352425"/>
            <a:chOff x="0" y="0"/>
            <a:chExt cx="3568142" cy="4699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568142" cy="469900"/>
            </a:xfrm>
            <a:custGeom>
              <a:avLst/>
              <a:gdLst/>
              <a:ahLst/>
              <a:cxnLst/>
              <a:rect r="r" b="b" t="t" l="l"/>
              <a:pathLst>
                <a:path h="469900" w="3568142">
                  <a:moveTo>
                    <a:pt x="0" y="0"/>
                  </a:moveTo>
                  <a:lnTo>
                    <a:pt x="3568142" y="0"/>
                  </a:lnTo>
                  <a:lnTo>
                    <a:pt x="3568142" y="469900"/>
                  </a:lnTo>
                  <a:lnTo>
                    <a:pt x="0" y="46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3748" r="0" b="-2921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548906" y="431923"/>
            <a:ext cx="1804197" cy="947039"/>
            <a:chOff x="0" y="0"/>
            <a:chExt cx="2405596" cy="12627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05634" cy="1262719"/>
            </a:xfrm>
            <a:custGeom>
              <a:avLst/>
              <a:gdLst/>
              <a:ahLst/>
              <a:cxnLst/>
              <a:rect r="r" b="b" t="t" l="l"/>
              <a:pathLst>
                <a:path h="1262719" w="2405634">
                  <a:moveTo>
                    <a:pt x="0" y="0"/>
                  </a:moveTo>
                  <a:lnTo>
                    <a:pt x="2405634" y="0"/>
                  </a:lnTo>
                  <a:lnTo>
                    <a:pt x="2405634" y="1262719"/>
                  </a:lnTo>
                  <a:lnTo>
                    <a:pt x="0" y="12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-325" r="0" b="-32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43000" y="1369438"/>
            <a:ext cx="168021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495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The Problem We're Solving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5681" y="3239639"/>
            <a:ext cx="1071405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b="true" sz="210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Manual Review Problems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13258" y="3702354"/>
            <a:ext cx="962628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Slow, page-by-page human inspection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13258" y="4302429"/>
            <a:ext cx="962628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Inconsistent application of rules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13258" y="4902504"/>
            <a:ext cx="962628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No digital audit trail or reasoning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13258" y="5502579"/>
            <a:ext cx="962628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High risk of missing sensitive PII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35681" y="3502329"/>
            <a:ext cx="32729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5"/>
              </a:lnSpc>
            </a:pPr>
            <a:r>
              <a:rPr lang="en-US" sz="3375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35681" y="4102404"/>
            <a:ext cx="32729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5"/>
              </a:lnSpc>
            </a:pPr>
            <a:r>
              <a:rPr lang="en-US" sz="3375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35681" y="4702479"/>
            <a:ext cx="32729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5"/>
              </a:lnSpc>
            </a:pPr>
            <a:r>
              <a:rPr lang="en-US" sz="3375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35681" y="5302554"/>
            <a:ext cx="32729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5"/>
              </a:lnSpc>
            </a:pPr>
            <a:r>
              <a:rPr lang="en-US" sz="3375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48906" y="431923"/>
            <a:ext cx="1804197" cy="947039"/>
            <a:chOff x="0" y="0"/>
            <a:chExt cx="2405596" cy="1262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634" cy="1262719"/>
            </a:xfrm>
            <a:custGeom>
              <a:avLst/>
              <a:gdLst/>
              <a:ahLst/>
              <a:cxnLst/>
              <a:rect r="r" b="b" t="t" l="l"/>
              <a:pathLst>
                <a:path h="1262719" w="2405634">
                  <a:moveTo>
                    <a:pt x="0" y="0"/>
                  </a:moveTo>
                  <a:lnTo>
                    <a:pt x="2405634" y="0"/>
                  </a:lnTo>
                  <a:lnTo>
                    <a:pt x="2405634" y="1262719"/>
                  </a:lnTo>
                  <a:lnTo>
                    <a:pt x="0" y="12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-325" r="0" b="-32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62431" y="790575"/>
            <a:ext cx="4164695" cy="876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49"/>
              </a:lnSpc>
              <a:spcBef>
                <a:spcPct val="0"/>
              </a:spcBef>
            </a:pPr>
            <a:r>
              <a:rPr lang="en-US" b="true" sz="4249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Our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6702" y="1827314"/>
            <a:ext cx="6665383" cy="10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Multi-Agent AI C</a:t>
            </a: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ompliance Pipeline</a:t>
            </a:r>
          </a:p>
          <a:p>
            <a:pPr algn="ctr">
              <a:lnSpc>
                <a:spcPts val="1968"/>
              </a:lnSpc>
              <a:spcBef>
                <a:spcPct val="0"/>
              </a:spcBef>
            </a:pPr>
          </a:p>
          <a:p>
            <a:pPr algn="ctr">
              <a:lnSpc>
                <a:spcPts val="196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085656" y="3463290"/>
            <a:ext cx="6225269" cy="321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400" b="true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C</a:t>
            </a:r>
            <a:r>
              <a:rPr lang="en-US" b="true" sz="240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ore Architecture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Parallel AI compliance agents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LangGraph-based orchestration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Shared pipeline state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Async execution for faster processing</a:t>
            </a:r>
          </a:p>
          <a:p>
            <a:pPr algn="l">
              <a:lnSpc>
                <a:spcPts val="432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417918" y="3463290"/>
            <a:ext cx="8126182" cy="3217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PII Detection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onfidential Data Detection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 Encoding Validation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Abusive Content Detection</a:t>
            </a:r>
          </a:p>
          <a:p>
            <a:pPr algn="l" marL="518160" indent="-259080" lvl="1">
              <a:lnSpc>
                <a:spcPts val="4320"/>
              </a:lnSpc>
              <a:buFont typeface="Arial"/>
              <a:buChar char="•"/>
            </a:pPr>
            <a:r>
              <a:rPr lang="en-US" sz="24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Reflection &amp; Validation Layer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57233" y="3472815"/>
            <a:ext cx="300082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b="true" sz="225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S</a:t>
            </a:r>
            <a:r>
              <a:rPr lang="en-US" b="true" sz="225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pecialized AI Agents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1737" y="7549726"/>
            <a:ext cx="12448282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240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PDF → Extracti</a:t>
            </a:r>
            <a:r>
              <a:rPr lang="en-US" b="true" sz="240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on → Parallel Agents → Reflection → Aggregator → Compliance Report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37234" y="2767230"/>
            <a:ext cx="3300412" cy="108085"/>
            <a:chOff x="0" y="0"/>
            <a:chExt cx="1524000" cy="499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0" cy="49909"/>
            </a:xfrm>
            <a:custGeom>
              <a:avLst/>
              <a:gdLst/>
              <a:ahLst/>
              <a:cxnLst/>
              <a:rect r="r" b="b" t="t" l="l"/>
              <a:pathLst>
                <a:path h="49909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49909"/>
                  </a:lnTo>
                  <a:lnTo>
                    <a:pt x="0" y="49909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90062" y="320052"/>
            <a:ext cx="1804197" cy="947039"/>
            <a:chOff x="0" y="0"/>
            <a:chExt cx="2405596" cy="1262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5634" cy="1262719"/>
            </a:xfrm>
            <a:custGeom>
              <a:avLst/>
              <a:gdLst/>
              <a:ahLst/>
              <a:cxnLst/>
              <a:rect r="r" b="b" t="t" l="l"/>
              <a:pathLst>
                <a:path h="1262719" w="2405634">
                  <a:moveTo>
                    <a:pt x="0" y="0"/>
                  </a:moveTo>
                  <a:lnTo>
                    <a:pt x="2405634" y="0"/>
                  </a:lnTo>
                  <a:lnTo>
                    <a:pt x="2405634" y="1262719"/>
                  </a:lnTo>
                  <a:lnTo>
                    <a:pt x="0" y="12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325" r="0" b="-325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5392" y="347821"/>
            <a:ext cx="15595390" cy="9591358"/>
          </a:xfrm>
          <a:custGeom>
            <a:avLst/>
            <a:gdLst/>
            <a:ahLst/>
            <a:cxnLst/>
            <a:rect r="r" b="b" t="t" l="l"/>
            <a:pathLst>
              <a:path h="9591358" w="15595390">
                <a:moveTo>
                  <a:pt x="0" y="0"/>
                </a:moveTo>
                <a:lnTo>
                  <a:pt x="15595390" y="0"/>
                </a:lnTo>
                <a:lnTo>
                  <a:pt x="15595390" y="9591358"/>
                </a:lnTo>
                <a:lnTo>
                  <a:pt x="0" y="9591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6" t="-22" r="0" b="-2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3240" y="1855213"/>
            <a:ext cx="1143000" cy="57150"/>
            <a:chOff x="0" y="0"/>
            <a:chExt cx="152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38875" y="338099"/>
            <a:ext cx="1804197" cy="947039"/>
            <a:chOff x="0" y="0"/>
            <a:chExt cx="2405596" cy="1262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634" cy="1262719"/>
            </a:xfrm>
            <a:custGeom>
              <a:avLst/>
              <a:gdLst/>
              <a:ahLst/>
              <a:cxnLst/>
              <a:rect r="r" b="b" t="t" l="l"/>
              <a:pathLst>
                <a:path h="1262719" w="2405634">
                  <a:moveTo>
                    <a:pt x="0" y="0"/>
                  </a:moveTo>
                  <a:lnTo>
                    <a:pt x="2405634" y="0"/>
                  </a:lnTo>
                  <a:lnTo>
                    <a:pt x="2405634" y="1262719"/>
                  </a:lnTo>
                  <a:lnTo>
                    <a:pt x="0" y="12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325" r="0" b="-325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07649" y="3084305"/>
            <a:ext cx="16451651" cy="5660550"/>
          </a:xfrm>
          <a:custGeom>
            <a:avLst/>
            <a:gdLst/>
            <a:ahLst/>
            <a:cxnLst/>
            <a:rect r="r" b="b" t="t" l="l"/>
            <a:pathLst>
              <a:path h="5660550" w="16451651">
                <a:moveTo>
                  <a:pt x="0" y="0"/>
                </a:moveTo>
                <a:lnTo>
                  <a:pt x="16451651" y="0"/>
                </a:lnTo>
                <a:lnTo>
                  <a:pt x="16451651" y="5660551"/>
                </a:lnTo>
                <a:lnTo>
                  <a:pt x="0" y="56605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659" r="0" b="-2465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23240" y="874138"/>
            <a:ext cx="168021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495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LangGraph Orchestration Pipeline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2950" y="1285139"/>
            <a:ext cx="1143000" cy="57150"/>
            <a:chOff x="0" y="0"/>
            <a:chExt cx="152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38875" y="338099"/>
            <a:ext cx="1804197" cy="947039"/>
            <a:chOff x="0" y="0"/>
            <a:chExt cx="2405596" cy="1262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634" cy="1262719"/>
            </a:xfrm>
            <a:custGeom>
              <a:avLst/>
              <a:gdLst/>
              <a:ahLst/>
              <a:cxnLst/>
              <a:rect r="r" b="b" t="t" l="l"/>
              <a:pathLst>
                <a:path h="1262719" w="2405634">
                  <a:moveTo>
                    <a:pt x="0" y="0"/>
                  </a:moveTo>
                  <a:lnTo>
                    <a:pt x="2405634" y="0"/>
                  </a:lnTo>
                  <a:lnTo>
                    <a:pt x="2405634" y="1262719"/>
                  </a:lnTo>
                  <a:lnTo>
                    <a:pt x="0" y="12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325" r="0" b="-325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25365" y="1285139"/>
            <a:ext cx="14101813" cy="9046632"/>
          </a:xfrm>
          <a:custGeom>
            <a:avLst/>
            <a:gdLst/>
            <a:ahLst/>
            <a:cxnLst/>
            <a:rect r="r" b="b" t="t" l="l"/>
            <a:pathLst>
              <a:path h="9046632" w="14101813">
                <a:moveTo>
                  <a:pt x="0" y="0"/>
                </a:moveTo>
                <a:lnTo>
                  <a:pt x="14101813" y="0"/>
                </a:lnTo>
                <a:lnTo>
                  <a:pt x="14101813" y="9046632"/>
                </a:lnTo>
                <a:lnTo>
                  <a:pt x="0" y="9046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0" t="-2171" r="0" b="-217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2950" y="425857"/>
            <a:ext cx="13043705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495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Multi-Agent Compliance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0972" y="957848"/>
            <a:ext cx="168021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495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Asynchronous Parallel Execution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40972" y="1996073"/>
            <a:ext cx="1143000" cy="47625"/>
            <a:chOff x="0" y="0"/>
            <a:chExt cx="1524000" cy="63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000" cy="63500"/>
            </a:xfrm>
            <a:custGeom>
              <a:avLst/>
              <a:gdLst/>
              <a:ahLst/>
              <a:cxnLst/>
              <a:rect r="r" b="b" t="t" l="l"/>
              <a:pathLst>
                <a:path h="635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538875" y="338099"/>
            <a:ext cx="1804197" cy="947039"/>
            <a:chOff x="0" y="0"/>
            <a:chExt cx="2405596" cy="1262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05634" cy="1262719"/>
            </a:xfrm>
            <a:custGeom>
              <a:avLst/>
              <a:gdLst/>
              <a:ahLst/>
              <a:cxnLst/>
              <a:rect r="r" b="b" t="t" l="l"/>
              <a:pathLst>
                <a:path h="1262719" w="2405634">
                  <a:moveTo>
                    <a:pt x="0" y="0"/>
                  </a:moveTo>
                  <a:lnTo>
                    <a:pt x="2405634" y="0"/>
                  </a:lnTo>
                  <a:lnTo>
                    <a:pt x="2405634" y="1262719"/>
                  </a:lnTo>
                  <a:lnTo>
                    <a:pt x="0" y="12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325" r="0" b="-325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0076874" y="2948573"/>
            <a:ext cx="7882693" cy="4684658"/>
          </a:xfrm>
          <a:custGeom>
            <a:avLst/>
            <a:gdLst/>
            <a:ahLst/>
            <a:cxnLst/>
            <a:rect r="r" b="b" t="t" l="l"/>
            <a:pathLst>
              <a:path h="4684658" w="7882693">
                <a:moveTo>
                  <a:pt x="0" y="0"/>
                </a:moveTo>
                <a:lnTo>
                  <a:pt x="7882693" y="0"/>
                </a:lnTo>
                <a:lnTo>
                  <a:pt x="7882693" y="4684658"/>
                </a:lnTo>
                <a:lnTo>
                  <a:pt x="0" y="468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60" t="0" r="-236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47206" y="7106817"/>
            <a:ext cx="9053444" cy="3086100"/>
            <a:chOff x="0" y="0"/>
            <a:chExt cx="238444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4446" cy="812800"/>
            </a:xfrm>
            <a:custGeom>
              <a:avLst/>
              <a:gdLst/>
              <a:ahLst/>
              <a:cxnLst/>
              <a:rect r="r" b="b" t="t" l="l"/>
              <a:pathLst>
                <a:path h="812800" w="2384446">
                  <a:moveTo>
                    <a:pt x="0" y="0"/>
                  </a:moveTo>
                  <a:lnTo>
                    <a:pt x="2384446" y="0"/>
                  </a:lnTo>
                  <a:lnTo>
                    <a:pt x="238444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F0F7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CB6C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2384446" cy="946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6731" y="2948573"/>
            <a:ext cx="4394957" cy="3737977"/>
            <a:chOff x="0" y="0"/>
            <a:chExt cx="1157520" cy="98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7520" cy="984488"/>
            </a:xfrm>
            <a:custGeom>
              <a:avLst/>
              <a:gdLst/>
              <a:ahLst/>
              <a:cxnLst/>
              <a:rect r="r" b="b" t="t" l="l"/>
              <a:pathLst>
                <a:path h="984488" w="1157520">
                  <a:moveTo>
                    <a:pt x="0" y="0"/>
                  </a:moveTo>
                  <a:lnTo>
                    <a:pt x="1157520" y="0"/>
                  </a:lnTo>
                  <a:lnTo>
                    <a:pt x="1157520" y="984488"/>
                  </a:lnTo>
                  <a:lnTo>
                    <a:pt x="0" y="984488"/>
                  </a:lnTo>
                  <a:close/>
                </a:path>
              </a:pathLst>
            </a:custGeom>
            <a:solidFill>
              <a:srgbClr val="EEF0F5">
                <a:alpha val="55686"/>
              </a:srgbClr>
            </a:solidFill>
            <a:ln w="38100" cap="sq">
              <a:gradFill>
                <a:gsLst>
                  <a:gs pos="0">
                    <a:srgbClr val="004AAD">
                      <a:alpha val="56000"/>
                    </a:srgbClr>
                  </a:gs>
                  <a:gs pos="100000">
                    <a:srgbClr val="CB6CE6">
                      <a:alpha val="56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33350"/>
              <a:ext cx="1157520" cy="1117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15217" y="2948573"/>
            <a:ext cx="4394957" cy="3708350"/>
            <a:chOff x="0" y="0"/>
            <a:chExt cx="1157520" cy="9766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7520" cy="976685"/>
            </a:xfrm>
            <a:custGeom>
              <a:avLst/>
              <a:gdLst/>
              <a:ahLst/>
              <a:cxnLst/>
              <a:rect r="r" b="b" t="t" l="l"/>
              <a:pathLst>
                <a:path h="976685" w="1157520">
                  <a:moveTo>
                    <a:pt x="0" y="0"/>
                  </a:moveTo>
                  <a:lnTo>
                    <a:pt x="1157520" y="0"/>
                  </a:lnTo>
                  <a:lnTo>
                    <a:pt x="1157520" y="976685"/>
                  </a:lnTo>
                  <a:lnTo>
                    <a:pt x="0" y="976685"/>
                  </a:lnTo>
                  <a:close/>
                </a:path>
              </a:pathLst>
            </a:custGeom>
            <a:solidFill>
              <a:srgbClr val="EDF0F7">
                <a:alpha val="54902"/>
              </a:srgbClr>
            </a:solidFill>
            <a:ln w="38100" cap="sq">
              <a:gradFill>
                <a:gsLst>
                  <a:gs pos="0">
                    <a:srgbClr val="004AAD">
                      <a:alpha val="55000"/>
                    </a:srgbClr>
                  </a:gs>
                  <a:gs pos="100000">
                    <a:srgbClr val="CB6CE6">
                      <a:alpha val="55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33350"/>
              <a:ext cx="1157520" cy="1110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903596" y="7777402"/>
            <a:ext cx="6708576" cy="2357382"/>
          </a:xfrm>
          <a:custGeom>
            <a:avLst/>
            <a:gdLst/>
            <a:ahLst/>
            <a:cxnLst/>
            <a:rect r="r" b="b" t="t" l="l"/>
            <a:pathLst>
              <a:path h="2357382" w="6708576">
                <a:moveTo>
                  <a:pt x="0" y="0"/>
                </a:moveTo>
                <a:lnTo>
                  <a:pt x="6708576" y="0"/>
                </a:lnTo>
                <a:lnTo>
                  <a:pt x="6708576" y="2357381"/>
                </a:lnTo>
                <a:lnTo>
                  <a:pt x="0" y="23573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08" t="0" r="-508" b="-1476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797226" y="8019579"/>
            <a:ext cx="6935912" cy="1260576"/>
          </a:xfrm>
          <a:custGeom>
            <a:avLst/>
            <a:gdLst/>
            <a:ahLst/>
            <a:cxnLst/>
            <a:rect r="r" b="b" t="t" l="l"/>
            <a:pathLst>
              <a:path h="1260576" w="6935912">
                <a:moveTo>
                  <a:pt x="0" y="0"/>
                </a:moveTo>
                <a:lnTo>
                  <a:pt x="6935912" y="0"/>
                </a:lnTo>
                <a:lnTo>
                  <a:pt x="6935912" y="1260576"/>
                </a:lnTo>
                <a:lnTo>
                  <a:pt x="0" y="12605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640" r="0" b="-1264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84103" y="4521272"/>
            <a:ext cx="4127517" cy="1593381"/>
          </a:xfrm>
          <a:custGeom>
            <a:avLst/>
            <a:gdLst/>
            <a:ahLst/>
            <a:cxnLst/>
            <a:rect r="r" b="b" t="t" l="l"/>
            <a:pathLst>
              <a:path h="1593381" w="4127517">
                <a:moveTo>
                  <a:pt x="0" y="0"/>
                </a:moveTo>
                <a:lnTo>
                  <a:pt x="4127517" y="0"/>
                </a:lnTo>
                <a:lnTo>
                  <a:pt x="4127517" y="1593381"/>
                </a:lnTo>
                <a:lnTo>
                  <a:pt x="0" y="15933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594" t="-13790" r="-6264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536011" y="4317552"/>
            <a:ext cx="4133745" cy="1966228"/>
          </a:xfrm>
          <a:custGeom>
            <a:avLst/>
            <a:gdLst/>
            <a:ahLst/>
            <a:cxnLst/>
            <a:rect r="r" b="b" t="t" l="l"/>
            <a:pathLst>
              <a:path h="1966228" w="4133745">
                <a:moveTo>
                  <a:pt x="0" y="0"/>
                </a:moveTo>
                <a:lnTo>
                  <a:pt x="4133745" y="0"/>
                </a:lnTo>
                <a:lnTo>
                  <a:pt x="4133745" y="1966228"/>
                </a:lnTo>
                <a:lnTo>
                  <a:pt x="0" y="1966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3858" r="0" b="-29089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12472" y="3290177"/>
            <a:ext cx="3589696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b="true" sz="2250">
                <a:solidFill>
                  <a:srgbClr val="8C52FF"/>
                </a:solidFill>
                <a:latin typeface="Inter Bold"/>
                <a:ea typeface="Inter Bold"/>
                <a:cs typeface="Inter Bold"/>
                <a:sym typeface="Inter Bold"/>
              </a:rPr>
              <a:t>asyncio.gather()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69669" y="3290177"/>
            <a:ext cx="327433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b="true" sz="2250">
                <a:solidFill>
                  <a:srgbClr val="8C52FF"/>
                </a:solidFill>
                <a:latin typeface="Inter Bold"/>
                <a:ea typeface="Inter Bold"/>
                <a:cs typeface="Inter Bold"/>
                <a:sym typeface="Inter Bold"/>
              </a:rPr>
              <a:t>aiohttp.ClientSession()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15186" y="7147560"/>
            <a:ext cx="7273003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9"/>
              </a:lnSpc>
              <a:spcBef>
                <a:spcPct val="0"/>
              </a:spcBef>
            </a:pPr>
            <a:r>
              <a:rPr lang="en-US" b="true" sz="2349">
                <a:solidFill>
                  <a:srgbClr val="8C52FF"/>
                </a:solidFill>
                <a:latin typeface="Inter Bold"/>
                <a:ea typeface="Inter Bold"/>
                <a:cs typeface="Inter Bold"/>
                <a:sym typeface="Inter Bold"/>
              </a:rPr>
              <a:t>What parallel execution giving us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8225" y="645538"/>
            <a:ext cx="168021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495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Engineering the Prompts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43000" y="1569463"/>
            <a:ext cx="1143000" cy="57150"/>
            <a:chOff x="0" y="0"/>
            <a:chExt cx="1524000" cy="76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152525" y="2090449"/>
          <a:ext cx="15982950" cy="6816804"/>
        </p:xfrm>
        <a:graphic>
          <a:graphicData uri="http://schemas.openxmlformats.org/drawingml/2006/table">
            <a:tbl>
              <a:tblPr/>
              <a:tblGrid>
                <a:gridCol w="5253511"/>
                <a:gridCol w="4786398"/>
                <a:gridCol w="5943041"/>
              </a:tblGrid>
              <a:tr h="8646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59"/>
                        </a:lnSpc>
                        <a:defRPr/>
                      </a:pPr>
                      <a:r>
                        <a:rPr lang="en-US" b="true" sz="304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Technique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F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59"/>
                        </a:lnSpc>
                        <a:defRPr/>
                      </a:pPr>
                      <a:r>
                        <a:rPr lang="en-US" b="true" sz="304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Where Used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F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59"/>
                        </a:lnSpc>
                        <a:defRPr/>
                      </a:pPr>
                      <a:r>
                        <a:rPr lang="en-US" b="true" sz="3049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Purpose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6FD9"/>
                    </a:solidFill>
                  </a:tcPr>
                </a:tc>
              </a:tr>
              <a:tr h="8220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7415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Role-based Prompt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All agents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Enforces expert persona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0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7415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Few-shot Examples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Compliance agents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Guidance on edge cases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8220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7415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Chain-of-Thought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All agents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Explainable reasoning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0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7415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Negative Constraints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PII / Abusive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Prevents over-flagging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8220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7415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Injection Guard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System prompt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Blocks adversarial input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04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7415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Conservative Bias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Reflection Agent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Ensures data safety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102008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b="true" sz="2250">
                          <a:solidFill>
                            <a:srgbClr val="37415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Hybrid (Regex + LLM)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PII Agent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37415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Regex answers it in microseconds with 100% consistency</a:t>
                      </a:r>
                      <a:endParaRPr lang="en-US" sz="1100"/>
                    </a:p>
                  </a:txBody>
                  <a:tcPr marL="38100" marR="38100" marT="38100" marB="38100" anchor="ctr">
                    <a:lnL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5538875" y="338099"/>
            <a:ext cx="1804197" cy="947039"/>
            <a:chOff x="0" y="0"/>
            <a:chExt cx="2405596" cy="1262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5634" cy="1262719"/>
            </a:xfrm>
            <a:custGeom>
              <a:avLst/>
              <a:gdLst/>
              <a:ahLst/>
              <a:cxnLst/>
              <a:rect r="r" b="b" t="t" l="l"/>
              <a:pathLst>
                <a:path h="1262719" w="2405634">
                  <a:moveTo>
                    <a:pt x="0" y="0"/>
                  </a:moveTo>
                  <a:lnTo>
                    <a:pt x="2405634" y="0"/>
                  </a:lnTo>
                  <a:lnTo>
                    <a:pt x="2405634" y="1262719"/>
                  </a:lnTo>
                  <a:lnTo>
                    <a:pt x="0" y="12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325" r="0" b="-325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2223" y="1514475"/>
            <a:ext cx="1143000" cy="52388"/>
            <a:chOff x="0" y="0"/>
            <a:chExt cx="1524000" cy="69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69850"/>
            </a:xfrm>
            <a:custGeom>
              <a:avLst/>
              <a:gdLst/>
              <a:ahLst/>
              <a:cxnLst/>
              <a:rect r="r" b="b" t="t" l="l"/>
              <a:pathLst>
                <a:path h="6985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9850"/>
                  </a:lnTo>
                  <a:lnTo>
                    <a:pt x="0" y="69850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38875" y="338099"/>
            <a:ext cx="1804197" cy="947039"/>
            <a:chOff x="0" y="0"/>
            <a:chExt cx="2405596" cy="1262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634" cy="1262719"/>
            </a:xfrm>
            <a:custGeom>
              <a:avLst/>
              <a:gdLst/>
              <a:ahLst/>
              <a:cxnLst/>
              <a:rect r="r" b="b" t="t" l="l"/>
              <a:pathLst>
                <a:path h="1262719" w="2405634">
                  <a:moveTo>
                    <a:pt x="0" y="0"/>
                  </a:moveTo>
                  <a:lnTo>
                    <a:pt x="2405634" y="0"/>
                  </a:lnTo>
                  <a:lnTo>
                    <a:pt x="2405634" y="1262719"/>
                  </a:lnTo>
                  <a:lnTo>
                    <a:pt x="0" y="12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325" r="0" b="-3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05223" y="1684442"/>
            <a:ext cx="4626167" cy="2697184"/>
            <a:chOff x="0" y="0"/>
            <a:chExt cx="6168223" cy="3596245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6168223" cy="3596245"/>
              <a:chOff x="0" y="0"/>
              <a:chExt cx="6730898" cy="3924300"/>
            </a:xfrm>
          </p:grpSpPr>
          <p:sp>
            <p:nvSpPr>
              <p:cNvPr name="Freeform 8" id="8" descr="image.png"/>
              <p:cNvSpPr/>
              <p:nvPr/>
            </p:nvSpPr>
            <p:spPr>
              <a:xfrm flipH="false" flipV="false" rot="0">
                <a:off x="0" y="0"/>
                <a:ext cx="6730873" cy="3924300"/>
              </a:xfrm>
              <a:custGeom>
                <a:avLst/>
                <a:gdLst/>
                <a:ahLst/>
                <a:cxnLst/>
                <a:rect r="r" b="b" t="t" l="l"/>
                <a:pathLst>
                  <a:path h="3924300" w="6730873">
                    <a:moveTo>
                      <a:pt x="0" y="0"/>
                    </a:moveTo>
                    <a:lnTo>
                      <a:pt x="6730873" y="0"/>
                    </a:lnTo>
                    <a:lnTo>
                      <a:pt x="6730873" y="3924300"/>
                    </a:lnTo>
                    <a:lnTo>
                      <a:pt x="0" y="3924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-294"/>
                </a:stretch>
              </a:blip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262298" y="337629"/>
              <a:ext cx="5689653" cy="2375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81"/>
                </a:lnSpc>
              </a:pPr>
              <a:r>
                <a:rPr lang="en-US" b="true" sz="1989">
                  <a:solidFill>
                    <a:srgbClr val="1800A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HTML Compliance Report</a:t>
              </a:r>
            </a:p>
            <a:p>
              <a:pPr algn="l">
                <a:lnSpc>
                  <a:spcPts val="2779"/>
                </a:lnSpc>
              </a:pPr>
              <a:r>
                <a:rPr lang="en-US" b="true" sz="1544">
                  <a:solidFill>
                    <a:srgbClr val="37415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Risk gauge (COMPLIANT → CRITICAL)Compliance score 0–100. Page-level violation heatmap.CoT reasoning per agent, per page.Remediation tips + audit trail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05223" y="7531309"/>
            <a:ext cx="4626167" cy="2697184"/>
            <a:chOff x="0" y="0"/>
            <a:chExt cx="6168223" cy="359624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168223" cy="3596245"/>
              <a:chOff x="0" y="0"/>
              <a:chExt cx="6730898" cy="3924300"/>
            </a:xfrm>
          </p:grpSpPr>
          <p:sp>
            <p:nvSpPr>
              <p:cNvPr name="Freeform 12" id="12" descr="image.png"/>
              <p:cNvSpPr/>
              <p:nvPr/>
            </p:nvSpPr>
            <p:spPr>
              <a:xfrm flipH="false" flipV="false" rot="0">
                <a:off x="0" y="0"/>
                <a:ext cx="6730873" cy="3924300"/>
              </a:xfrm>
              <a:custGeom>
                <a:avLst/>
                <a:gdLst/>
                <a:ahLst/>
                <a:cxnLst/>
                <a:rect r="r" b="b" t="t" l="l"/>
                <a:pathLst>
                  <a:path h="3924300" w="6730873">
                    <a:moveTo>
                      <a:pt x="0" y="0"/>
                    </a:moveTo>
                    <a:lnTo>
                      <a:pt x="6730873" y="0"/>
                    </a:lnTo>
                    <a:lnTo>
                      <a:pt x="6730873" y="3924300"/>
                    </a:lnTo>
                    <a:lnTo>
                      <a:pt x="0" y="39243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0" b="-294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30743" y="126892"/>
              <a:ext cx="5082466" cy="32438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89"/>
                </a:lnSpc>
              </a:pPr>
              <a:r>
                <a:rPr lang="en-US" b="true" sz="2049">
                  <a:solidFill>
                    <a:srgbClr val="1800A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Redacted PDF</a:t>
              </a:r>
            </a:p>
            <a:p>
              <a:pPr algn="just">
                <a:lnSpc>
                  <a:spcPts val="3215"/>
                </a:lnSpc>
              </a:pPr>
              <a:r>
                <a:rPr lang="en-US" b="true" sz="1786">
                  <a:solidFill>
                    <a:srgbClr val="37415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All PII terms replaced with ████Safe-to-share version of originalPoweredby ReportLabPreservesdocument structure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805223" y="4615291"/>
            <a:ext cx="4626167" cy="2682353"/>
            <a:chOff x="0" y="0"/>
            <a:chExt cx="6168223" cy="357647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168223" cy="3576470"/>
              <a:chOff x="0" y="0"/>
              <a:chExt cx="6730898" cy="3902722"/>
            </a:xfrm>
          </p:grpSpPr>
          <p:sp>
            <p:nvSpPr>
              <p:cNvPr name="Freeform 16" id="16" descr="image.png"/>
              <p:cNvSpPr/>
              <p:nvPr/>
            </p:nvSpPr>
            <p:spPr>
              <a:xfrm flipH="false" flipV="false" rot="0">
                <a:off x="0" y="0"/>
                <a:ext cx="6730873" cy="3902722"/>
              </a:xfrm>
              <a:custGeom>
                <a:avLst/>
                <a:gdLst/>
                <a:ahLst/>
                <a:cxnLst/>
                <a:rect r="r" b="b" t="t" l="l"/>
                <a:pathLst>
                  <a:path h="3902722" w="6730873">
                    <a:moveTo>
                      <a:pt x="0" y="0"/>
                    </a:moveTo>
                    <a:lnTo>
                      <a:pt x="6730873" y="0"/>
                    </a:lnTo>
                    <a:lnTo>
                      <a:pt x="6730873" y="3902722"/>
                    </a:lnTo>
                    <a:lnTo>
                      <a:pt x="0" y="390272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276" r="0" b="-572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139660" y="469730"/>
              <a:ext cx="6028563" cy="25765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56"/>
                </a:lnSpc>
              </a:pPr>
              <a:r>
                <a:rPr lang="en-US" b="true" sz="2031">
                  <a:solidFill>
                    <a:srgbClr val="1800A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JSON Summary Export</a:t>
              </a:r>
            </a:p>
            <a:p>
              <a:pPr algn="l">
                <a:lnSpc>
                  <a:spcPts val="3034"/>
                </a:lnSpc>
              </a:pPr>
              <a:r>
                <a:rPr lang="en-US" b="true" sz="1686">
                  <a:solidFill>
                    <a:srgbClr val="374151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Rule-by-rule violation countsViolated page numbers per rule.Risk level + compliance score.Downstream pipeline ready.Agents used + scan duration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942022" y="542925"/>
            <a:ext cx="6467965" cy="9685567"/>
          </a:xfrm>
          <a:custGeom>
            <a:avLst/>
            <a:gdLst/>
            <a:ahLst/>
            <a:cxnLst/>
            <a:rect r="r" b="b" t="t" l="l"/>
            <a:pathLst>
              <a:path h="9685567" w="6467965">
                <a:moveTo>
                  <a:pt x="0" y="0"/>
                </a:moveTo>
                <a:lnTo>
                  <a:pt x="6467966" y="0"/>
                </a:lnTo>
                <a:lnTo>
                  <a:pt x="6467966" y="9685567"/>
                </a:lnTo>
                <a:lnTo>
                  <a:pt x="0" y="9685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37" r="-99" b="-1517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05223" y="1865234"/>
            <a:ext cx="6061498" cy="2399297"/>
          </a:xfrm>
          <a:custGeom>
            <a:avLst/>
            <a:gdLst/>
            <a:ahLst/>
            <a:cxnLst/>
            <a:rect r="r" b="b" t="t" l="l"/>
            <a:pathLst>
              <a:path h="2399297" w="6061498">
                <a:moveTo>
                  <a:pt x="0" y="0"/>
                </a:moveTo>
                <a:lnTo>
                  <a:pt x="6061499" y="0"/>
                </a:lnTo>
                <a:lnTo>
                  <a:pt x="6061499" y="2399297"/>
                </a:lnTo>
                <a:lnTo>
                  <a:pt x="0" y="23992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629" r="0" b="-3629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805223" y="7592918"/>
            <a:ext cx="6061498" cy="2515345"/>
          </a:xfrm>
          <a:custGeom>
            <a:avLst/>
            <a:gdLst/>
            <a:ahLst/>
            <a:cxnLst/>
            <a:rect r="r" b="b" t="t" l="l"/>
            <a:pathLst>
              <a:path h="2515345" w="6061498">
                <a:moveTo>
                  <a:pt x="0" y="0"/>
                </a:moveTo>
                <a:lnTo>
                  <a:pt x="6061499" y="0"/>
                </a:lnTo>
                <a:lnTo>
                  <a:pt x="6061499" y="2515345"/>
                </a:lnTo>
                <a:lnTo>
                  <a:pt x="0" y="25153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3565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805223" y="4615291"/>
            <a:ext cx="6061498" cy="2730923"/>
          </a:xfrm>
          <a:custGeom>
            <a:avLst/>
            <a:gdLst/>
            <a:ahLst/>
            <a:cxnLst/>
            <a:rect r="r" b="b" t="t" l="l"/>
            <a:pathLst>
              <a:path h="2730923" w="6061498">
                <a:moveTo>
                  <a:pt x="0" y="0"/>
                </a:moveTo>
                <a:lnTo>
                  <a:pt x="6061499" y="0"/>
                </a:lnTo>
                <a:lnTo>
                  <a:pt x="6061499" y="2730923"/>
                </a:lnTo>
                <a:lnTo>
                  <a:pt x="0" y="27309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5356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40972" y="533400"/>
            <a:ext cx="168021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495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System Outputs &amp; Reports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2223" y="1514475"/>
            <a:ext cx="1143000" cy="52388"/>
            <a:chOff x="0" y="0"/>
            <a:chExt cx="1524000" cy="698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69850"/>
            </a:xfrm>
            <a:custGeom>
              <a:avLst/>
              <a:gdLst/>
              <a:ahLst/>
              <a:cxnLst/>
              <a:rect r="r" b="b" t="t" l="l"/>
              <a:pathLst>
                <a:path h="6985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9850"/>
                  </a:lnTo>
                  <a:lnTo>
                    <a:pt x="0" y="69850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38875" y="338099"/>
            <a:ext cx="1804197" cy="947039"/>
            <a:chOff x="0" y="0"/>
            <a:chExt cx="2405596" cy="1262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5634" cy="1262719"/>
            </a:xfrm>
            <a:custGeom>
              <a:avLst/>
              <a:gdLst/>
              <a:ahLst/>
              <a:cxnLst/>
              <a:rect r="r" b="b" t="t" l="l"/>
              <a:pathLst>
                <a:path h="1262719" w="2405634">
                  <a:moveTo>
                    <a:pt x="0" y="0"/>
                  </a:moveTo>
                  <a:lnTo>
                    <a:pt x="2405634" y="0"/>
                  </a:lnTo>
                  <a:lnTo>
                    <a:pt x="2405634" y="1262719"/>
                  </a:lnTo>
                  <a:lnTo>
                    <a:pt x="0" y="126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-325" r="0" b="-32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3825" y="2923799"/>
            <a:ext cx="4236516" cy="1811984"/>
            <a:chOff x="0" y="0"/>
            <a:chExt cx="5648688" cy="241597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5648688" cy="2415979"/>
              <a:chOff x="0" y="0"/>
              <a:chExt cx="7482015" cy="3200105"/>
            </a:xfrm>
          </p:grpSpPr>
          <p:sp>
            <p:nvSpPr>
              <p:cNvPr name="Freeform 8" id="8" descr="image.png"/>
              <p:cNvSpPr/>
              <p:nvPr/>
            </p:nvSpPr>
            <p:spPr>
              <a:xfrm flipH="false" flipV="false" rot="0">
                <a:off x="0" y="0"/>
                <a:ext cx="7481987" cy="3200105"/>
              </a:xfrm>
              <a:custGeom>
                <a:avLst/>
                <a:gdLst/>
                <a:ahLst/>
                <a:cxnLst/>
                <a:rect r="r" b="b" t="t" l="l"/>
                <a:pathLst>
                  <a:path h="3200105" w="7481987">
                    <a:moveTo>
                      <a:pt x="0" y="0"/>
                    </a:moveTo>
                    <a:lnTo>
                      <a:pt x="7481987" y="0"/>
                    </a:lnTo>
                    <a:lnTo>
                      <a:pt x="7481987" y="3200105"/>
                    </a:lnTo>
                    <a:lnTo>
                      <a:pt x="0" y="32001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18157" r="0" b="-18559"/>
                </a:stretch>
              </a:blip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25771" y="-71122"/>
              <a:ext cx="5122916" cy="23270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6"/>
                </a:lnSpc>
              </a:pPr>
              <a:r>
                <a:rPr lang="en-US" b="true" sz="1786">
                  <a:solidFill>
                    <a:srgbClr val="1800A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Measured benchmark (actual run)</a:t>
              </a:r>
            </a:p>
            <a:p>
              <a:pPr algn="l" marL="262744" indent="-131372" lvl="1">
                <a:lnSpc>
                  <a:spcPts val="2190"/>
                </a:lnSpc>
                <a:buFont typeface="Arial"/>
                <a:buChar char="•"/>
              </a:pPr>
              <a:r>
                <a:rPr lang="en-US" b="true" sz="1216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 pages ·</a:t>
              </a:r>
            </a:p>
            <a:p>
              <a:pPr algn="l" marL="262744" indent="-131372" lvl="1">
                <a:lnSpc>
                  <a:spcPts val="2190"/>
                </a:lnSpc>
                <a:buFont typeface="Arial"/>
                <a:buChar char="•"/>
              </a:pPr>
              <a:r>
                <a:rPr lang="en-US" b="true" sz="1216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avg 15 lines/page · 25 sec total. </a:t>
              </a:r>
            </a:p>
            <a:p>
              <a:pPr algn="l" marL="262744" indent="-131372" lvl="1">
                <a:lnSpc>
                  <a:spcPts val="2190"/>
                </a:lnSpc>
                <a:buFont typeface="Arial"/>
                <a:buChar char="•"/>
              </a:pPr>
              <a:r>
                <a:rPr lang="en-US" b="true" sz="1216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Per-page scan time: 7 seconds. Includes: extract → 4 parallel agents → reflect → aggregate → report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778991" y="2923799"/>
            <a:ext cx="3949415" cy="1515443"/>
            <a:chOff x="0" y="0"/>
            <a:chExt cx="5265887" cy="202059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5265887" cy="2020590"/>
              <a:chOff x="0" y="0"/>
              <a:chExt cx="7317376" cy="2807774"/>
            </a:xfrm>
          </p:grpSpPr>
          <p:sp>
            <p:nvSpPr>
              <p:cNvPr name="Freeform 12" id="12" descr="image.png"/>
              <p:cNvSpPr/>
              <p:nvPr/>
            </p:nvSpPr>
            <p:spPr>
              <a:xfrm flipH="false" flipV="false" rot="0">
                <a:off x="0" y="0"/>
                <a:ext cx="7317349" cy="2807774"/>
              </a:xfrm>
              <a:custGeom>
                <a:avLst/>
                <a:gdLst/>
                <a:ahLst/>
                <a:cxnLst/>
                <a:rect r="r" b="b" t="t" l="l"/>
                <a:pathLst>
                  <a:path h="2807774" w="7317349">
                    <a:moveTo>
                      <a:pt x="0" y="0"/>
                    </a:moveTo>
                    <a:lnTo>
                      <a:pt x="7317349" y="0"/>
                    </a:lnTo>
                    <a:lnTo>
                      <a:pt x="7317349" y="2807774"/>
                    </a:lnTo>
                    <a:lnTo>
                      <a:pt x="0" y="280777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25971" r="0" b="-26419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471371" y="103415"/>
              <a:ext cx="4794515" cy="1699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7"/>
                </a:lnSpc>
              </a:pPr>
              <a:r>
                <a:rPr lang="en-US" b="true" sz="1843">
                  <a:solidFill>
                    <a:srgbClr val="1800A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Manual review assumptions</a:t>
              </a:r>
            </a:p>
            <a:p>
              <a:pPr algn="l">
                <a:lnSpc>
                  <a:spcPts val="2351"/>
                </a:lnSpc>
              </a:pPr>
              <a:r>
                <a:rPr lang="en-US" b="true" sz="1306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Compliance analyst r</a:t>
              </a:r>
              <a:r>
                <a:rPr lang="en-US" b="true" sz="1306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ate: $45 / hour . </a:t>
              </a:r>
            </a:p>
            <a:p>
              <a:pPr algn="l">
                <a:lnSpc>
                  <a:spcPts val="2351"/>
                </a:lnSpc>
              </a:pPr>
              <a:r>
                <a:rPr lang="en-US" b="true" sz="1306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Manual time per page: ~8 min (4 rules × 2 min each)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67230" y="1753759"/>
            <a:ext cx="6965213" cy="608066"/>
            <a:chOff x="0" y="0"/>
            <a:chExt cx="9286951" cy="81075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286951" cy="810754"/>
              <a:chOff x="0" y="0"/>
              <a:chExt cx="6730898" cy="587610"/>
            </a:xfrm>
          </p:grpSpPr>
          <p:sp>
            <p:nvSpPr>
              <p:cNvPr name="Freeform 16" id="16" descr="image.png"/>
              <p:cNvSpPr/>
              <p:nvPr/>
            </p:nvSpPr>
            <p:spPr>
              <a:xfrm flipH="false" flipV="false" rot="0">
                <a:off x="0" y="0"/>
                <a:ext cx="6730873" cy="587610"/>
              </a:xfrm>
              <a:custGeom>
                <a:avLst/>
                <a:gdLst/>
                <a:ahLst/>
                <a:cxnLst/>
                <a:rect r="r" b="b" t="t" l="l"/>
                <a:pathLst>
                  <a:path h="587610" w="6730873">
                    <a:moveTo>
                      <a:pt x="0" y="0"/>
                    </a:moveTo>
                    <a:lnTo>
                      <a:pt x="6730873" y="0"/>
                    </a:lnTo>
                    <a:lnTo>
                      <a:pt x="6730873" y="587610"/>
                    </a:lnTo>
                    <a:lnTo>
                      <a:pt x="0" y="58761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283920" r="0" b="-285889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886878" y="-171450"/>
              <a:ext cx="7513195" cy="732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13"/>
                </a:lnSpc>
              </a:pPr>
              <a:r>
                <a:rPr lang="en-US" b="true" sz="2785">
                  <a:solidFill>
                    <a:srgbClr val="1800A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Estimated Time and Cost Saved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40972" y="533400"/>
            <a:ext cx="168021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4950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Time and Cost Estimates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367230" y="5335984"/>
            <a:ext cx="3081158" cy="1692765"/>
            <a:chOff x="0" y="0"/>
            <a:chExt cx="4108211" cy="225702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108211" cy="2257020"/>
              <a:chOff x="0" y="0"/>
              <a:chExt cx="677976" cy="372475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677976" cy="372475"/>
              </a:xfrm>
              <a:custGeom>
                <a:avLst/>
                <a:gdLst/>
                <a:ahLst/>
                <a:cxnLst/>
                <a:rect r="r" b="b" t="t" l="l"/>
                <a:pathLst>
                  <a:path h="372475" w="677976">
                    <a:moveTo>
                      <a:pt x="39098" y="0"/>
                    </a:moveTo>
                    <a:lnTo>
                      <a:pt x="638879" y="0"/>
                    </a:lnTo>
                    <a:cubicBezTo>
                      <a:pt x="660472" y="0"/>
                      <a:pt x="677976" y="17505"/>
                      <a:pt x="677976" y="39098"/>
                    </a:cubicBezTo>
                    <a:lnTo>
                      <a:pt x="677976" y="333377"/>
                    </a:lnTo>
                    <a:cubicBezTo>
                      <a:pt x="677976" y="354970"/>
                      <a:pt x="660472" y="372475"/>
                      <a:pt x="638879" y="372475"/>
                    </a:cubicBezTo>
                    <a:lnTo>
                      <a:pt x="39098" y="372475"/>
                    </a:lnTo>
                    <a:cubicBezTo>
                      <a:pt x="17505" y="372475"/>
                      <a:pt x="0" y="354970"/>
                      <a:pt x="0" y="333377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33350"/>
                <a:ext cx="677976" cy="505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5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274914" y="252477"/>
              <a:ext cx="3556598" cy="1753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4"/>
                </a:lnSpc>
              </a:pPr>
              <a:r>
                <a:rPr lang="en-US" b="true" sz="2402">
                  <a:gradFill>
                    <a:gsLst>
                      <a:gs pos="0">
                        <a:srgbClr val="FF3131">
                          <a:alpha val="100000"/>
                        </a:srgbClr>
                      </a:gs>
                      <a:gs pos="100000">
                        <a:srgbClr val="FF914D">
                          <a:alpha val="100000"/>
                        </a:srgbClr>
                      </a:gs>
                    </a:gsLst>
                    <a:lin ang="0"/>
                  </a:gradFill>
                  <a:latin typeface="Inter Bold"/>
                  <a:ea typeface="Inter Bold"/>
                  <a:cs typeface="Inter Bold"/>
                  <a:sym typeface="Inter Bold"/>
                </a:rPr>
                <a:t>7 sec</a:t>
              </a:r>
            </a:p>
            <a:p>
              <a:pPr algn="ctr">
                <a:lnSpc>
                  <a:spcPts val="3247"/>
                </a:lnSpc>
                <a:spcBef>
                  <a:spcPct val="0"/>
                </a:spcBef>
              </a:pPr>
              <a:r>
                <a:rPr lang="en-US" b="true" sz="180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</a:t>
              </a:r>
              <a:r>
                <a:rPr lang="en-US" b="true" sz="180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 page (measured)</a:t>
              </a:r>
            </a:p>
            <a:p>
              <a:pPr algn="ctr">
                <a:lnSpc>
                  <a:spcPts val="3247"/>
                </a:lnSpc>
                <a:spcBef>
                  <a:spcPct val="0"/>
                </a:spcBef>
              </a:pPr>
              <a:r>
                <a:rPr lang="en-US" b="true" sz="180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 pages in 25 sec actual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67230" y="7588424"/>
            <a:ext cx="3039496" cy="1669876"/>
            <a:chOff x="0" y="0"/>
            <a:chExt cx="4052661" cy="2226501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4052661" cy="2226501"/>
              <a:chOff x="0" y="0"/>
              <a:chExt cx="677976" cy="372475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77976" cy="372475"/>
              </a:xfrm>
              <a:custGeom>
                <a:avLst/>
                <a:gdLst/>
                <a:ahLst/>
                <a:cxnLst/>
                <a:rect r="r" b="b" t="t" l="l"/>
                <a:pathLst>
                  <a:path h="372475" w="677976">
                    <a:moveTo>
                      <a:pt x="39098" y="0"/>
                    </a:moveTo>
                    <a:lnTo>
                      <a:pt x="638879" y="0"/>
                    </a:lnTo>
                    <a:cubicBezTo>
                      <a:pt x="660472" y="0"/>
                      <a:pt x="677976" y="17505"/>
                      <a:pt x="677976" y="39098"/>
                    </a:cubicBezTo>
                    <a:lnTo>
                      <a:pt x="677976" y="333377"/>
                    </a:lnTo>
                    <a:cubicBezTo>
                      <a:pt x="677976" y="354970"/>
                      <a:pt x="660472" y="372475"/>
                      <a:pt x="638879" y="372475"/>
                    </a:cubicBezTo>
                    <a:lnTo>
                      <a:pt x="39098" y="372475"/>
                    </a:lnTo>
                    <a:cubicBezTo>
                      <a:pt x="17505" y="372475"/>
                      <a:pt x="0" y="354970"/>
                      <a:pt x="0" y="333377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F9FAFB"/>
              </a:solidFill>
              <a:ln w="38100" cap="sq">
                <a:gradFill>
                  <a:gsLst>
                    <a:gs pos="0">
                      <a:srgbClr val="89D957">
                        <a:alpha val="100000"/>
                      </a:srgbClr>
                    </a:gs>
                    <a:gs pos="100000">
                      <a:srgbClr val="C9E265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33350"/>
                <a:ext cx="677976" cy="505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4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342779" y="247131"/>
              <a:ext cx="3367102" cy="17315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66"/>
                </a:lnSpc>
              </a:pPr>
              <a:r>
                <a:rPr lang="en-US" sz="2370" b="true">
                  <a:solidFill>
                    <a:srgbClr val="00BF63"/>
                  </a:solidFill>
                  <a:latin typeface="Inter Bold"/>
                  <a:ea typeface="Inter Bold"/>
                  <a:cs typeface="Inter Bold"/>
                  <a:sym typeface="Inter Bold"/>
                </a:rPr>
                <a:t>6.6 hrs</a:t>
              </a:r>
            </a:p>
            <a:p>
              <a:pPr algn="ctr">
                <a:lnSpc>
                  <a:spcPts val="3203"/>
                </a:lnSpc>
                <a:spcBef>
                  <a:spcPct val="0"/>
                </a:spcBef>
              </a:pPr>
              <a:r>
                <a:rPr lang="en-US" b="true" sz="177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saved pe</a:t>
              </a:r>
              <a:r>
                <a:rPr lang="en-US" b="true" sz="177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 50-page doc</a:t>
              </a:r>
            </a:p>
            <a:p>
              <a:pPr algn="ctr">
                <a:lnSpc>
                  <a:spcPts val="3203"/>
                </a:lnSpc>
                <a:spcBef>
                  <a:spcPct val="0"/>
                </a:spcBef>
              </a:pPr>
              <a:r>
                <a:rPr lang="en-US" b="true" sz="1779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vs 8 min manual/page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288085" y="5335984"/>
            <a:ext cx="3081158" cy="1692765"/>
            <a:chOff x="0" y="0"/>
            <a:chExt cx="4108211" cy="225702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108211" cy="2257020"/>
              <a:chOff x="0" y="0"/>
              <a:chExt cx="677976" cy="37247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77976" cy="372475"/>
              </a:xfrm>
              <a:custGeom>
                <a:avLst/>
                <a:gdLst/>
                <a:ahLst/>
                <a:cxnLst/>
                <a:rect r="r" b="b" t="t" l="l"/>
                <a:pathLst>
                  <a:path h="372475" w="677976">
                    <a:moveTo>
                      <a:pt x="39098" y="0"/>
                    </a:moveTo>
                    <a:lnTo>
                      <a:pt x="638879" y="0"/>
                    </a:lnTo>
                    <a:cubicBezTo>
                      <a:pt x="660472" y="0"/>
                      <a:pt x="677976" y="17505"/>
                      <a:pt x="677976" y="39098"/>
                    </a:cubicBezTo>
                    <a:lnTo>
                      <a:pt x="677976" y="333377"/>
                    </a:lnTo>
                    <a:cubicBezTo>
                      <a:pt x="677976" y="354970"/>
                      <a:pt x="660472" y="372475"/>
                      <a:pt x="638879" y="372475"/>
                    </a:cubicBezTo>
                    <a:lnTo>
                      <a:pt x="39098" y="372475"/>
                    </a:lnTo>
                    <a:cubicBezTo>
                      <a:pt x="17505" y="372475"/>
                      <a:pt x="0" y="354970"/>
                      <a:pt x="0" y="333377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F9FAFB"/>
              </a:solidFill>
              <a:ln w="38100" cap="sq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33350"/>
                <a:ext cx="677976" cy="505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4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94464" y="252477"/>
              <a:ext cx="3186545" cy="1753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4"/>
                </a:lnSpc>
              </a:pPr>
              <a:r>
                <a:rPr lang="en-US" b="true" sz="2402">
                  <a:gradFill>
                    <a:gsLst>
                      <a:gs pos="0">
                        <a:srgbClr val="004AAD">
                          <a:alpha val="100000"/>
                        </a:srgbClr>
                      </a:gs>
                      <a:gs pos="100000">
                        <a:srgbClr val="CB6CE6">
                          <a:alpha val="100000"/>
                        </a:srgbClr>
                      </a:gs>
                    </a:gsLst>
                    <a:lin ang="0"/>
                  </a:gradFill>
                  <a:latin typeface="Inter Bold"/>
                  <a:ea typeface="Inter Bold"/>
                  <a:cs typeface="Inter Bold"/>
                  <a:sym typeface="Inter Bold"/>
                </a:rPr>
                <a:t>$296</a:t>
              </a:r>
            </a:p>
            <a:p>
              <a:pPr algn="ctr">
                <a:lnSpc>
                  <a:spcPts val="3247"/>
                </a:lnSpc>
                <a:spcBef>
                  <a:spcPct val="0"/>
                </a:spcBef>
              </a:pPr>
              <a:r>
                <a:rPr lang="en-US" b="true" sz="180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saved pe</a:t>
              </a:r>
              <a:r>
                <a:rPr lang="en-US" b="true" sz="180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 document</a:t>
              </a:r>
            </a:p>
            <a:p>
              <a:pPr algn="ctr">
                <a:lnSpc>
                  <a:spcPts val="3247"/>
                </a:lnSpc>
                <a:spcBef>
                  <a:spcPct val="0"/>
                </a:spcBef>
              </a:pPr>
              <a:r>
                <a:rPr lang="en-US" b="true" sz="180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at $45/hr analyst rate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288085" y="7588424"/>
            <a:ext cx="3081158" cy="1692765"/>
            <a:chOff x="0" y="0"/>
            <a:chExt cx="4108211" cy="2257020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4108211" cy="2257020"/>
              <a:chOff x="0" y="0"/>
              <a:chExt cx="677976" cy="372475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77976" cy="372475"/>
              </a:xfrm>
              <a:custGeom>
                <a:avLst/>
                <a:gdLst/>
                <a:ahLst/>
                <a:cxnLst/>
                <a:rect r="r" b="b" t="t" l="l"/>
                <a:pathLst>
                  <a:path h="372475" w="677976">
                    <a:moveTo>
                      <a:pt x="39098" y="0"/>
                    </a:moveTo>
                    <a:lnTo>
                      <a:pt x="638879" y="0"/>
                    </a:lnTo>
                    <a:cubicBezTo>
                      <a:pt x="660472" y="0"/>
                      <a:pt x="677976" y="17505"/>
                      <a:pt x="677976" y="39098"/>
                    </a:cubicBezTo>
                    <a:lnTo>
                      <a:pt x="677976" y="333377"/>
                    </a:lnTo>
                    <a:cubicBezTo>
                      <a:pt x="677976" y="354970"/>
                      <a:pt x="660472" y="372475"/>
                      <a:pt x="638879" y="372475"/>
                    </a:cubicBezTo>
                    <a:lnTo>
                      <a:pt x="39098" y="372475"/>
                    </a:lnTo>
                    <a:cubicBezTo>
                      <a:pt x="17505" y="372475"/>
                      <a:pt x="0" y="354970"/>
                      <a:pt x="0" y="333377"/>
                    </a:cubicBezTo>
                    <a:lnTo>
                      <a:pt x="0" y="39098"/>
                    </a:lnTo>
                    <a:cubicBezTo>
                      <a:pt x="0" y="17505"/>
                      <a:pt x="17505" y="0"/>
                      <a:pt x="39098" y="0"/>
                    </a:cubicBezTo>
                    <a:close/>
                  </a:path>
                </a:pathLst>
              </a:custGeom>
              <a:solidFill>
                <a:srgbClr val="F9FAFB"/>
              </a:solidFill>
              <a:ln w="38100" cap="sq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33350"/>
                <a:ext cx="677976" cy="5058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49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860042" y="252477"/>
              <a:ext cx="2388127" cy="1753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24"/>
                </a:lnSpc>
              </a:pPr>
              <a:r>
                <a:rPr lang="en-US" b="true" sz="2402">
                  <a:gradFill>
                    <a:gsLst>
                      <a:gs pos="0">
                        <a:srgbClr val="8C52FF">
                          <a:alpha val="100000"/>
                        </a:srgbClr>
                      </a:gs>
                      <a:gs pos="100000">
                        <a:srgbClr val="00BF63">
                          <a:alpha val="100000"/>
                        </a:srgbClr>
                      </a:gs>
                    </a:gsLst>
                    <a:lin ang="0"/>
                  </a:gradFill>
                  <a:latin typeface="Inter Bold"/>
                  <a:ea typeface="Inter Bold"/>
                  <a:cs typeface="Inter Bold"/>
                  <a:sym typeface="Inter Bold"/>
                </a:rPr>
                <a:t>$153K+</a:t>
              </a:r>
            </a:p>
            <a:p>
              <a:pPr algn="ctr">
                <a:lnSpc>
                  <a:spcPts val="3247"/>
                </a:lnSpc>
              </a:pPr>
              <a:r>
                <a:rPr lang="en-US" sz="1804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annual saving</a:t>
              </a:r>
            </a:p>
            <a:p>
              <a:pPr algn="ctr">
                <a:lnSpc>
                  <a:spcPts val="3247"/>
                </a:lnSpc>
                <a:spcBef>
                  <a:spcPct val="0"/>
                </a:spcBef>
              </a:pPr>
              <a:r>
                <a:rPr lang="en-US" b="true" sz="180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at 10</a:t>
              </a:r>
              <a:r>
                <a:rPr lang="en-US" b="true" sz="1804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docs/week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945451" y="1715659"/>
            <a:ext cx="7313849" cy="638502"/>
            <a:chOff x="0" y="0"/>
            <a:chExt cx="9751799" cy="851335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9751799" cy="851335"/>
              <a:chOff x="0" y="0"/>
              <a:chExt cx="6730898" cy="587610"/>
            </a:xfrm>
          </p:grpSpPr>
          <p:sp>
            <p:nvSpPr>
              <p:cNvPr name="Freeform 41" id="41" descr="image.png"/>
              <p:cNvSpPr/>
              <p:nvPr/>
            </p:nvSpPr>
            <p:spPr>
              <a:xfrm flipH="false" flipV="false" rot="0">
                <a:off x="0" y="0"/>
                <a:ext cx="6730873" cy="587610"/>
              </a:xfrm>
              <a:custGeom>
                <a:avLst/>
                <a:gdLst/>
                <a:ahLst/>
                <a:cxnLst/>
                <a:rect r="r" b="b" t="t" l="l"/>
                <a:pathLst>
                  <a:path h="587610" w="6730873">
                    <a:moveTo>
                      <a:pt x="0" y="0"/>
                    </a:moveTo>
                    <a:lnTo>
                      <a:pt x="6730873" y="0"/>
                    </a:lnTo>
                    <a:lnTo>
                      <a:pt x="6730873" y="587610"/>
                    </a:lnTo>
                    <a:lnTo>
                      <a:pt x="0" y="58761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-283920" r="0" b="-285889"/>
                </a:stretch>
              </a:blip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931269" y="-161925"/>
              <a:ext cx="7889260" cy="751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64"/>
                </a:lnSpc>
              </a:pPr>
              <a:r>
                <a:rPr lang="en-US" b="true" sz="2924">
                  <a:solidFill>
                    <a:srgbClr val="1800A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Tokens used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60329" y="2791610"/>
            <a:ext cx="3909360" cy="3004747"/>
            <a:chOff x="0" y="0"/>
            <a:chExt cx="5212480" cy="4006329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4942579" cy="4006329"/>
              <a:chOff x="0" y="0"/>
              <a:chExt cx="919200" cy="74508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919200" cy="745080"/>
              </a:xfrm>
              <a:custGeom>
                <a:avLst/>
                <a:gdLst/>
                <a:ahLst/>
                <a:cxnLst/>
                <a:rect r="r" b="b" t="t" l="l"/>
                <a:pathLst>
                  <a:path h="745080" w="919200">
                    <a:moveTo>
                      <a:pt x="28837" y="0"/>
                    </a:moveTo>
                    <a:lnTo>
                      <a:pt x="890362" y="0"/>
                    </a:lnTo>
                    <a:cubicBezTo>
                      <a:pt x="898010" y="0"/>
                      <a:pt x="905345" y="3038"/>
                      <a:pt x="910753" y="8446"/>
                    </a:cubicBezTo>
                    <a:cubicBezTo>
                      <a:pt x="916162" y="13854"/>
                      <a:pt x="919200" y="21189"/>
                      <a:pt x="919200" y="28837"/>
                    </a:cubicBezTo>
                    <a:lnTo>
                      <a:pt x="919200" y="716243"/>
                    </a:lnTo>
                    <a:cubicBezTo>
                      <a:pt x="919200" y="732169"/>
                      <a:pt x="906289" y="745080"/>
                      <a:pt x="890362" y="745080"/>
                    </a:cubicBezTo>
                    <a:lnTo>
                      <a:pt x="28837" y="745080"/>
                    </a:lnTo>
                    <a:cubicBezTo>
                      <a:pt x="21189" y="745080"/>
                      <a:pt x="13854" y="742042"/>
                      <a:pt x="8446" y="736634"/>
                    </a:cubicBezTo>
                    <a:cubicBezTo>
                      <a:pt x="3038" y="731226"/>
                      <a:pt x="0" y="723891"/>
                      <a:pt x="0" y="716243"/>
                    </a:cubicBezTo>
                    <a:lnTo>
                      <a:pt x="0" y="28837"/>
                    </a:lnTo>
                    <a:cubicBezTo>
                      <a:pt x="0" y="21189"/>
                      <a:pt x="3038" y="13854"/>
                      <a:pt x="8446" y="8446"/>
                    </a:cubicBezTo>
                    <a:cubicBezTo>
                      <a:pt x="13854" y="3038"/>
                      <a:pt x="21189" y="0"/>
                      <a:pt x="28837" y="0"/>
                    </a:cubicBezTo>
                    <a:close/>
                  </a:path>
                </a:pathLst>
              </a:custGeom>
              <a:solidFill>
                <a:srgbClr val="F9FAFB"/>
              </a:solidFill>
              <a:ln w="38100" cap="sq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133350"/>
                <a:ext cx="919200" cy="8784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4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132008"/>
              <a:ext cx="5212480" cy="3570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22"/>
                </a:lnSpc>
              </a:pPr>
              <a:r>
                <a:rPr lang="en-US" b="true" sz="2901">
                  <a:gradFill>
                    <a:gsLst>
                      <a:gs pos="0">
                        <a:srgbClr val="004AAD">
                          <a:alpha val="100000"/>
                        </a:srgbClr>
                      </a:gs>
                      <a:gs pos="100000">
                        <a:srgbClr val="CB6CE6">
                          <a:alpha val="100000"/>
                        </a:srgbClr>
                      </a:gs>
                    </a:gsLst>
                    <a:lin ang="0"/>
                  </a:gradFill>
                  <a:latin typeface="Inter Bold"/>
                  <a:ea typeface="Inter Bold"/>
                  <a:cs typeface="Inter Bold"/>
                  <a:sym typeface="Inter Bold"/>
                </a:rPr>
                <a:t>Parallel Supervisor </a:t>
              </a:r>
            </a:p>
            <a:p>
              <a:pPr algn="l" marL="396484" indent="-198242" lvl="1">
                <a:lnSpc>
                  <a:spcPts val="3305"/>
                </a:lnSpc>
                <a:buFont typeface="Arial"/>
                <a:buChar char="•"/>
              </a:pP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Total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tokens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(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 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ges) = 29,484 </a:t>
              </a:r>
            </a:p>
            <a:p>
              <a:pPr algn="l" marL="396484" indent="-198242" lvl="1">
                <a:lnSpc>
                  <a:spcPts val="3305"/>
                </a:lnSpc>
                <a:buFont typeface="Arial"/>
                <a:buChar char="•"/>
              </a:pP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Per page = $0.0046</a:t>
              </a:r>
            </a:p>
            <a:p>
              <a:pPr algn="l" marL="396484" indent="-198242" lvl="1">
                <a:lnSpc>
                  <a:spcPts val="3305"/>
                </a:lnSpc>
                <a:buFont typeface="Arial"/>
                <a:buChar char="•"/>
              </a:pP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Per 50-page doc = $0.228</a:t>
              </a:r>
            </a:p>
            <a:p>
              <a:pPr algn="l" marL="396484" indent="-198242" lvl="1">
                <a:lnSpc>
                  <a:spcPts val="3305"/>
                </a:lnSpc>
                <a:buFont typeface="Arial"/>
                <a:buChar char="•"/>
              </a:pP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nu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al 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API cos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 = </a:t>
              </a:r>
              <a:r>
                <a:rPr lang="en-US" b="true" sz="1836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$118.64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602375" y="2773260"/>
            <a:ext cx="3806000" cy="3023096"/>
            <a:chOff x="0" y="0"/>
            <a:chExt cx="5074666" cy="4030795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5074666" cy="4030795"/>
              <a:chOff x="0" y="0"/>
              <a:chExt cx="827007" cy="65689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27007" cy="656890"/>
              </a:xfrm>
              <a:custGeom>
                <a:avLst/>
                <a:gdLst/>
                <a:ahLst/>
                <a:cxnLst/>
                <a:rect r="r" b="b" t="t" l="l"/>
                <a:pathLst>
                  <a:path h="656890" w="827007">
                    <a:moveTo>
                      <a:pt x="32052" y="0"/>
                    </a:moveTo>
                    <a:lnTo>
                      <a:pt x="794955" y="0"/>
                    </a:lnTo>
                    <a:cubicBezTo>
                      <a:pt x="812657" y="0"/>
                      <a:pt x="827007" y="14350"/>
                      <a:pt x="827007" y="32052"/>
                    </a:cubicBezTo>
                    <a:lnTo>
                      <a:pt x="827007" y="624837"/>
                    </a:lnTo>
                    <a:cubicBezTo>
                      <a:pt x="827007" y="633338"/>
                      <a:pt x="823630" y="641491"/>
                      <a:pt x="817619" y="647502"/>
                    </a:cubicBezTo>
                    <a:cubicBezTo>
                      <a:pt x="811608" y="653513"/>
                      <a:pt x="803456" y="656890"/>
                      <a:pt x="794955" y="656890"/>
                    </a:cubicBezTo>
                    <a:lnTo>
                      <a:pt x="32052" y="656890"/>
                    </a:lnTo>
                    <a:cubicBezTo>
                      <a:pt x="14350" y="656890"/>
                      <a:pt x="0" y="642539"/>
                      <a:pt x="0" y="624837"/>
                    </a:cubicBezTo>
                    <a:lnTo>
                      <a:pt x="0" y="32052"/>
                    </a:lnTo>
                    <a:cubicBezTo>
                      <a:pt x="0" y="23551"/>
                      <a:pt x="3377" y="15399"/>
                      <a:pt x="9388" y="9388"/>
                    </a:cubicBezTo>
                    <a:cubicBezTo>
                      <a:pt x="15399" y="3377"/>
                      <a:pt x="23551" y="0"/>
                      <a:pt x="32052" y="0"/>
                    </a:cubicBezTo>
                    <a:close/>
                  </a:path>
                </a:pathLst>
              </a:custGeom>
              <a:solidFill>
                <a:srgbClr val="F9FAFB"/>
              </a:solidFill>
              <a:ln w="38100" cap="sq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133350"/>
                <a:ext cx="827007" cy="7902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4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0" y="264073"/>
              <a:ext cx="5074666" cy="3334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80"/>
                </a:lnSpc>
              </a:pPr>
              <a:r>
                <a:rPr lang="en-US" b="true" sz="2655">
                  <a:gradFill>
                    <a:gsLst>
                      <a:gs pos="0">
                        <a:srgbClr val="004AAD">
                          <a:alpha val="100000"/>
                        </a:srgbClr>
                      </a:gs>
                      <a:gs pos="100000">
                        <a:srgbClr val="CB6CE6">
                          <a:alpha val="100000"/>
                        </a:srgbClr>
                      </a:gs>
                    </a:gsLst>
                    <a:lin ang="0"/>
                  </a:gradFill>
                  <a:latin typeface="Inter Bold"/>
                  <a:ea typeface="Inter Bold"/>
                  <a:cs typeface="Inter Bold"/>
                  <a:sym typeface="Inter Bold"/>
                </a:rPr>
                <a:t>Sequential</a:t>
              </a:r>
            </a:p>
            <a:p>
              <a:pPr algn="l" marL="359251" indent="-179625" lvl="1">
                <a:lnSpc>
                  <a:spcPts val="2995"/>
                </a:lnSpc>
                <a:buFont typeface="Arial"/>
                <a:buChar char="•"/>
              </a:pPr>
              <a:r>
                <a:rPr lang="en-US" b="true" sz="1663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Total</a:t>
              </a:r>
              <a:r>
                <a:rPr lang="en-US" b="true" sz="1663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tokens (4 pages) = 26,256</a:t>
              </a:r>
            </a:p>
            <a:p>
              <a:pPr algn="l" marL="359251" indent="-179625" lvl="1">
                <a:lnSpc>
                  <a:spcPts val="2995"/>
                </a:lnSpc>
                <a:buFont typeface="Arial"/>
                <a:buChar char="•"/>
              </a:pPr>
              <a:r>
                <a:rPr lang="en-US" b="true" sz="1663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Per page = $0.0046</a:t>
              </a:r>
            </a:p>
            <a:p>
              <a:pPr algn="l" marL="359251" indent="-179625" lvl="1">
                <a:lnSpc>
                  <a:spcPts val="2995"/>
                </a:lnSpc>
                <a:buFont typeface="Arial"/>
                <a:buChar char="•"/>
              </a:pPr>
              <a:r>
                <a:rPr lang="en-US" b="true" sz="1663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Per 50-page doc = $0.206</a:t>
              </a:r>
            </a:p>
            <a:p>
              <a:pPr algn="l" marL="359251" indent="-179625" lvl="1">
                <a:lnSpc>
                  <a:spcPts val="2995"/>
                </a:lnSpc>
                <a:buFont typeface="Arial"/>
                <a:buChar char="•"/>
              </a:pPr>
              <a:r>
                <a:rPr lang="en-US" b="true" sz="1663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Annual API cost = $106.91</a:t>
              </a:r>
            </a:p>
            <a:p>
              <a:pPr algn="ctr">
                <a:lnSpc>
                  <a:spcPts val="358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860329" y="5996381"/>
            <a:ext cx="7578706" cy="3675890"/>
            <a:chOff x="0" y="0"/>
            <a:chExt cx="10104942" cy="4901187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10104942" cy="4901187"/>
              <a:chOff x="0" y="0"/>
              <a:chExt cx="1302057" cy="631535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302057" cy="631535"/>
              </a:xfrm>
              <a:custGeom>
                <a:avLst/>
                <a:gdLst/>
                <a:ahLst/>
                <a:cxnLst/>
                <a:rect r="r" b="b" t="t" l="l"/>
                <a:pathLst>
                  <a:path h="631535" w="1302057">
                    <a:moveTo>
                      <a:pt x="20358" y="0"/>
                    </a:moveTo>
                    <a:lnTo>
                      <a:pt x="1281699" y="0"/>
                    </a:lnTo>
                    <a:cubicBezTo>
                      <a:pt x="1287099" y="0"/>
                      <a:pt x="1292277" y="2145"/>
                      <a:pt x="1296095" y="5963"/>
                    </a:cubicBezTo>
                    <a:cubicBezTo>
                      <a:pt x="1299913" y="9781"/>
                      <a:pt x="1302057" y="14959"/>
                      <a:pt x="1302057" y="20358"/>
                    </a:cubicBezTo>
                    <a:lnTo>
                      <a:pt x="1302057" y="611177"/>
                    </a:lnTo>
                    <a:cubicBezTo>
                      <a:pt x="1302057" y="622421"/>
                      <a:pt x="1292943" y="631535"/>
                      <a:pt x="1281699" y="631535"/>
                    </a:cubicBezTo>
                    <a:lnTo>
                      <a:pt x="20358" y="631535"/>
                    </a:lnTo>
                    <a:cubicBezTo>
                      <a:pt x="14959" y="631535"/>
                      <a:pt x="9781" y="629390"/>
                      <a:pt x="5963" y="625573"/>
                    </a:cubicBezTo>
                    <a:cubicBezTo>
                      <a:pt x="2145" y="621755"/>
                      <a:pt x="0" y="616577"/>
                      <a:pt x="0" y="611177"/>
                    </a:cubicBezTo>
                    <a:lnTo>
                      <a:pt x="0" y="20358"/>
                    </a:lnTo>
                    <a:cubicBezTo>
                      <a:pt x="0" y="14959"/>
                      <a:pt x="2145" y="9781"/>
                      <a:pt x="5963" y="5963"/>
                    </a:cubicBezTo>
                    <a:cubicBezTo>
                      <a:pt x="9781" y="2145"/>
                      <a:pt x="14959" y="0"/>
                      <a:pt x="20358" y="0"/>
                    </a:cubicBezTo>
                    <a:close/>
                  </a:path>
                </a:pathLst>
              </a:custGeom>
              <a:solidFill>
                <a:srgbClr val="F9FAFB"/>
              </a:solidFill>
              <a:ln w="38100" cap="sq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133350"/>
                <a:ext cx="1302057" cy="7648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04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424001" y="591313"/>
              <a:ext cx="9256940" cy="3604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b="true" sz="2099">
                  <a:gradFill>
                    <a:gsLst>
                      <a:gs pos="0">
                        <a:srgbClr val="004AAD">
                          <a:alpha val="100000"/>
                        </a:srgbClr>
                      </a:gs>
                      <a:gs pos="100000">
                        <a:srgbClr val="CB6CE6">
                          <a:alpha val="100000"/>
                        </a:srgbClr>
                      </a:gs>
                    </a:gsLst>
                    <a:lin ang="0"/>
                  </a:gradFill>
                  <a:latin typeface="Inter Bold"/>
                  <a:ea typeface="Inter Bold"/>
                  <a:cs typeface="Inter Bold"/>
                  <a:sym typeface="Inter Bold"/>
                </a:rPr>
                <a:t>TradeOff</a:t>
              </a:r>
            </a:p>
            <a:p>
              <a:pPr algn="l" marL="367029" indent="-183514" lvl="1">
                <a:lnSpc>
                  <a:spcPts val="3059"/>
                </a:lnSpc>
                <a:buFont typeface="Arial"/>
                <a:buChar char="•"/>
              </a:pPr>
              <a:r>
                <a:rPr lang="en-US" b="true" sz="1699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Reasoning that hedges between rules ("this could be PII or confidential")</a:t>
              </a:r>
            </a:p>
            <a:p>
              <a:pPr algn="l" marL="367029" indent="-183514" lvl="1">
                <a:lnSpc>
                  <a:spcPts val="3059"/>
                </a:lnSpc>
                <a:buFont typeface="Arial"/>
                <a:buChar char="•"/>
              </a:pPr>
              <a:r>
                <a:rPr lang="en-US" b="true" sz="1699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Longer, m</a:t>
              </a:r>
              <a:r>
                <a:rPr lang="en-US" b="true" sz="1699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ore uncertain</a:t>
              </a:r>
              <a:r>
                <a:rPr lang="en-US" b="true" sz="1699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output to compensate</a:t>
              </a:r>
            </a:p>
            <a:p>
              <a:pPr algn="l" marL="367029" indent="-183514" lvl="1">
                <a:lnSpc>
                  <a:spcPts val="3059"/>
                </a:lnSpc>
                <a:buFont typeface="Arial"/>
                <a:buChar char="•"/>
              </a:pPr>
              <a:r>
                <a:rPr lang="en-US" b="true" sz="1699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Higher false positive rate → more ReflectionAgent work</a:t>
              </a:r>
            </a:p>
            <a:p>
              <a:pPr algn="l" marL="367029" indent="-183514" lvl="1">
                <a:lnSpc>
                  <a:spcPts val="3059"/>
                </a:lnSpc>
                <a:buFont typeface="Arial"/>
                <a:buChar char="•"/>
              </a:pPr>
              <a:r>
                <a:rPr lang="en-US" b="true" sz="1699">
                  <a:solidFill>
                    <a:srgbClr val="11182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One JSON blob for 4 rules → harder to parse, harder to audit</a:t>
              </a:r>
            </a:p>
            <a:p>
              <a:pPr algn="ctr">
                <a:lnSpc>
                  <a:spcPts val="30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2632111" y="5327657"/>
            <a:ext cx="1143000" cy="117900"/>
            <a:chOff x="0" y="0"/>
            <a:chExt cx="1524000" cy="1572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157226"/>
            </a:xfrm>
            <a:custGeom>
              <a:avLst/>
              <a:gdLst/>
              <a:ahLst/>
              <a:cxnLst/>
              <a:rect r="r" b="b" t="t" l="l"/>
              <a:pathLst>
                <a:path h="157226" w="1524000">
                  <a:moveTo>
                    <a:pt x="1524000" y="0"/>
                  </a:moveTo>
                  <a:lnTo>
                    <a:pt x="0" y="0"/>
                  </a:lnTo>
                  <a:lnTo>
                    <a:pt x="0" y="157226"/>
                  </a:lnTo>
                  <a:lnTo>
                    <a:pt x="1524000" y="157226"/>
                  </a:lnTo>
                  <a:close/>
                </a:path>
              </a:pathLst>
            </a:custGeom>
            <a:solidFill>
              <a:srgbClr val="E11D4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05274" y="0"/>
            <a:ext cx="8082726" cy="10287000"/>
          </a:xfrm>
          <a:custGeom>
            <a:avLst/>
            <a:gdLst/>
            <a:ahLst/>
            <a:cxnLst/>
            <a:rect r="r" b="b" t="t" l="l"/>
            <a:pathLst>
              <a:path h="10287000" w="8082726">
                <a:moveTo>
                  <a:pt x="0" y="0"/>
                </a:moveTo>
                <a:lnTo>
                  <a:pt x="8082726" y="0"/>
                </a:lnTo>
                <a:lnTo>
                  <a:pt x="80827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1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62074" y="3361939"/>
            <a:ext cx="1058652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49"/>
              </a:lnSpc>
            </a:pPr>
            <a:r>
              <a:rPr lang="en-US" b="true" sz="7041">
                <a:solidFill>
                  <a:srgbClr val="111827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70180" y="4400566"/>
            <a:ext cx="10586521" cy="57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  <a:spcBef>
                <a:spcPct val="0"/>
              </a:spcBef>
            </a:pPr>
            <a:r>
              <a:rPr lang="en-US" sz="2749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GitH</a:t>
            </a:r>
            <a:r>
              <a:rPr lang="en-US" sz="2749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ub: github.com/Rekha-Kumre17/pdf-compliance-check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DAHJh46DFjM</dc:identifier>
  <dcterms:modified xsi:type="dcterms:W3CDTF">2011-08-01T06:04:30Z</dcterms:modified>
  <cp:revision>1</cp:revision>
  <dc:title>AI-Powered PDF Compliance Checker.pptx</dc:title>
</cp:coreProperties>
</file>